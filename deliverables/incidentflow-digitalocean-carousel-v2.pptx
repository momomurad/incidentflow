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700c783eca45d5" /><Relationship Type="http://schemas.openxmlformats.org/officeDocument/2006/relationships/extended-properties" Target="/docProps/app.xml" Id="Rdaa347886578447c" /><Relationship Type="http://schemas.openxmlformats.org/officeDocument/2006/relationships/officeDocument" Target="/ppt/presentation.xml" Id="Rfe64356e2b3c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a64747e804639"/>
  </p:sldMasterIdLst>
  <p:notesMasterIdLst>
    <p:notesMasterId xmlns:r="http://schemas.openxmlformats.org/officeDocument/2006/relationships" r:id="R8c1a0d0b8db849eb"/>
  </p:notesMasterIdLst>
  <p:sldIdLst>
    <p:sldId xmlns:r="http://schemas.openxmlformats.org/officeDocument/2006/relationships" id="256" r:id="R221d589ed59b4d73"/>
    <p:sldId xmlns:r="http://schemas.openxmlformats.org/officeDocument/2006/relationships" id="257" r:id="R72e5c15e25504115"/>
    <p:sldId xmlns:r="http://schemas.openxmlformats.org/officeDocument/2006/relationships" id="258" r:id="R035c81c667564991"/>
    <p:sldId xmlns:r="http://schemas.openxmlformats.org/officeDocument/2006/relationships" id="259" r:id="Rdb84033959154ac7"/>
    <p:sldId xmlns:r="http://schemas.openxmlformats.org/officeDocument/2006/relationships" id="260" r:id="R154d24cd87af46c9"/>
    <p:sldId xmlns:r="http://schemas.openxmlformats.org/officeDocument/2006/relationships" id="261" r:id="R6713b4b0c6e44292"/>
    <p:sldId xmlns:r="http://schemas.openxmlformats.org/officeDocument/2006/relationships" id="262" r:id="R390c1854c58644bb"/>
    <p:sldId xmlns:r="http://schemas.openxmlformats.org/officeDocument/2006/relationships" id="263" r:id="R9642340303764aa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a21f89972849ec" /><Relationship Type="http://schemas.openxmlformats.org/officeDocument/2006/relationships/slideMaster" Target="/ppt/slideMasters/slideMaster1.xml" Id="R1e4a64747e804639" /><Relationship Type="http://schemas.openxmlformats.org/officeDocument/2006/relationships/notesMaster" Target="/ppt/notesMasters/notesMaster1.xml" Id="R8c1a0d0b8db849eb" /><Relationship Type="http://schemas.openxmlformats.org/officeDocument/2006/relationships/presProps" Target="/ppt/presProps.xml" Id="Rf6ad1b1f5c1040b5" /><Relationship Type="http://schemas.openxmlformats.org/officeDocument/2006/relationships/tableStyles" Target="/ppt/tableStyles.xml" Id="Re2253d7c9d1c40cf" /><Relationship Type="http://schemas.openxmlformats.org/officeDocument/2006/relationships/slide" Target="/ppt/slides/slide1.xml" Id="R221d589ed59b4d73" /><Relationship Type="http://schemas.openxmlformats.org/officeDocument/2006/relationships/slide" Target="/ppt/slides/slide2.xml" Id="R72e5c15e25504115" /><Relationship Type="http://schemas.openxmlformats.org/officeDocument/2006/relationships/slide" Target="/ppt/slides/slide3.xml" Id="R035c81c667564991" /><Relationship Type="http://schemas.openxmlformats.org/officeDocument/2006/relationships/slide" Target="/ppt/slides/slide4.xml" Id="Rdb84033959154ac7" /><Relationship Type="http://schemas.openxmlformats.org/officeDocument/2006/relationships/slide" Target="/ppt/slides/slide5.xml" Id="R154d24cd87af46c9" /><Relationship Type="http://schemas.openxmlformats.org/officeDocument/2006/relationships/slide" Target="/ppt/slides/slide6.xml" Id="R6713b4b0c6e44292" /><Relationship Type="http://schemas.openxmlformats.org/officeDocument/2006/relationships/slide" Target="/ppt/slides/slide7.xml" Id="R390c1854c58644bb" /><Relationship Type="http://schemas.openxmlformats.org/officeDocument/2006/relationships/slide" Target="/ppt/slides/slide8.xml" Id="R9642340303764a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8e2c827dd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614a30a514c93" /><Relationship Type="http://schemas.openxmlformats.org/officeDocument/2006/relationships/notesMaster" Target="/ppt/notesMasters/notesMaster1.xml" Id="Re8cec30b8953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a81a1ab16e4ff3" /><Relationship Type="http://schemas.openxmlformats.org/officeDocument/2006/relationships/notesMaster" Target="/ppt/notesMasters/notesMaster1.xml" Id="R2fa86982c550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6a0e322a7b4e7c" /><Relationship Type="http://schemas.openxmlformats.org/officeDocument/2006/relationships/notesMaster" Target="/ppt/notesMasters/notesMaster1.xml" Id="Rd7439f408f1c45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bce222f28e4978" /><Relationship Type="http://schemas.openxmlformats.org/officeDocument/2006/relationships/notesMaster" Target="/ppt/notesMasters/notesMaster1.xml" Id="R494bc8cb4db741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878fc6b464e08" /><Relationship Type="http://schemas.openxmlformats.org/officeDocument/2006/relationships/notesMaster" Target="/ppt/notesMasters/notesMaster1.xml" Id="Rb6603b1e100143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b8b79fefa43ae" /><Relationship Type="http://schemas.openxmlformats.org/officeDocument/2006/relationships/notesMaster" Target="/ppt/notesMasters/notesMaster1.xml" Id="R38ccc6618fe24b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3671d003f94d32" /><Relationship Type="http://schemas.openxmlformats.org/officeDocument/2006/relationships/notesMaster" Target="/ppt/notesMasters/notesMaster1.xml" Id="R9f9b6cb5b96e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0edf2ac3314894" /><Relationship Type="http://schemas.openxmlformats.org/officeDocument/2006/relationships/notesMaster" Target="/ppt/notesMasters/notesMaster1.xml" Id="Rc214b66daa25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admin portal screenshot from 2026-10-04 at 164.92.128.197:8086.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based on the DigitalOcean proof workflow completed on 2026-10-04.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Terraform output screenshot showing public_ipv4 164.92.128.197 and DigitalOcean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Ansible playbook screenshot from WSL showing all tasks OK and no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remote docker compose ps output showing database, backend, user frontend, support frontend, and admin frontend healthy.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screenshots of user, support, and admin portals on 164.92.128.197 ports 8084, 8085, and 8086.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admin dashboard screenshot showing support resolution metrics and user reporting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slide for publishing after the DigitalOcean proof and before the AWS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dad4e49f643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8caeb5a5943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1e523258e4c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d0c6f33864a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1724378c641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a770dfbac4a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937D4A-B69F-4C1F-A3DA-A4328F290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476022-462C-4E4F-A58E-3127B63E37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77D6EB-90CF-40F0-B833-7EF232315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8E2EB9-D208-41D3-8864-3FDC35AB9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A7F9E5-95DC-49AC-931E-FEB8767AFC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5A56F5-FB89-4FEE-95EA-9EC8C80435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CD288A-D6DC-4936-8425-AE182D0F51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0E90FA-3F86-4D86-A143-334FE00EBA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E5EAC3-A577-4645-9926-54715C74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B0ADBA-1E14-47DA-80D4-2A7A8DA73F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8232fa48754584" /><Relationship Type="http://schemas.openxmlformats.org/officeDocument/2006/relationships/slideLayout" Target="/ppt/slideLayouts/slideLayout1.xml" Id="Rc59634006f4a4be7" /><Relationship Type="http://schemas.openxmlformats.org/officeDocument/2006/relationships/slideLayout" Target="/ppt/slideLayouts/slideLayout2.xml" Id="R0bb63d69422243ef" /><Relationship Type="http://schemas.openxmlformats.org/officeDocument/2006/relationships/slideLayout" Target="/ppt/slideLayouts/slideLayout3.xml" Id="Rb77a55d59473437d" /><Relationship Type="http://schemas.openxmlformats.org/officeDocument/2006/relationships/slideLayout" Target="/ppt/slideLayouts/slideLayout4.xml" Id="Rb3a8e02406684490" /><Relationship Type="http://schemas.openxmlformats.org/officeDocument/2006/relationships/slideLayout" Target="/ppt/slideLayouts/slideLayout5.xml" Id="Rb440c80d0950447e" /><Relationship Type="http://schemas.openxmlformats.org/officeDocument/2006/relationships/slideLayout" Target="/ppt/slideLayouts/slideLayout6.xml" Id="Rf84813390e084b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9634006f4a4be7"/>
    <p:sldLayoutId xmlns:r="http://schemas.openxmlformats.org/officeDocument/2006/relationships" id="2147483650" r:id="R0bb63d69422243ef"/>
    <p:sldLayoutId xmlns:r="http://schemas.openxmlformats.org/officeDocument/2006/relationships" id="2147483651" r:id="Rb77a55d59473437d"/>
    <p:sldLayoutId xmlns:r="http://schemas.openxmlformats.org/officeDocument/2006/relationships" id="2147483652" r:id="Rb3a8e02406684490"/>
    <p:sldLayoutId xmlns:r="http://schemas.openxmlformats.org/officeDocument/2006/relationships" id="2147483653" r:id="Rb440c80d0950447e"/>
    <p:sldLayoutId xmlns:r="http://schemas.openxmlformats.org/officeDocument/2006/relationships" id="2147483654" r:id="Rf84813390e084b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da23877e7482e" /><Relationship Type="http://schemas.openxmlformats.org/officeDocument/2006/relationships/image" Target="/ppt/media/image.png" Id="R6a2b706a4aad475c" /><Relationship Type="http://schemas.openxmlformats.org/officeDocument/2006/relationships/notesSlide" Target="/ppt/notesSlides/notesSlide1.xml" Id="R6b3729cd5e4243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ee3c5fea442c2" /><Relationship Type="http://schemas.openxmlformats.org/officeDocument/2006/relationships/notesSlide" Target="/ppt/notesSlides/notesSlide2.xml" Id="R23013d8e752349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dbd9316714ea3" /><Relationship Type="http://schemas.openxmlformats.org/officeDocument/2006/relationships/image" Target="/ppt/media/image2.png" Id="R2d4b0cc6389f4d5f" /><Relationship Type="http://schemas.openxmlformats.org/officeDocument/2006/relationships/notesSlide" Target="/ppt/notesSlides/notesSlide3.xml" Id="Rc2a289a9f9df42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4fb3ff1d9473b" /><Relationship Type="http://schemas.openxmlformats.org/officeDocument/2006/relationships/image" Target="/ppt/media/image3.png" Id="R7c11513c55164319" /><Relationship Type="http://schemas.openxmlformats.org/officeDocument/2006/relationships/notesSlide" Target="/ppt/notesSlides/notesSlide4.xml" Id="R16cfcc3d28d84d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3c9083a884dae" /><Relationship Type="http://schemas.openxmlformats.org/officeDocument/2006/relationships/image" Target="/ppt/media/image4.png" Id="R7b4322c0700c48f3" /><Relationship Type="http://schemas.openxmlformats.org/officeDocument/2006/relationships/notesSlide" Target="/ppt/notesSlides/notesSlide5.xml" Id="R19cdab85a5b2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211b5463048b8" /><Relationship Type="http://schemas.openxmlformats.org/officeDocument/2006/relationships/image" Target="/ppt/media/image5.png" Id="Rf88bed2b567c47a7" /><Relationship Type="http://schemas.openxmlformats.org/officeDocument/2006/relationships/image" Target="/ppt/media/image6.png" Id="Re84e8fe6d23e44d4" /><Relationship Type="http://schemas.openxmlformats.org/officeDocument/2006/relationships/image" Target="/ppt/media/image7.png" Id="R2c68404ef9024bee" /><Relationship Type="http://schemas.openxmlformats.org/officeDocument/2006/relationships/notesSlide" Target="/ppt/notesSlides/notesSlide6.xml" Id="R727d9c3a77504e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cf0a01d424618" /><Relationship Type="http://schemas.openxmlformats.org/officeDocument/2006/relationships/image" Target="/ppt/media/image8.png" Id="R7344eb1b97c24e88" /><Relationship Type="http://schemas.openxmlformats.org/officeDocument/2006/relationships/notesSlide" Target="/ppt/notesSlides/notesSlide7.xml" Id="R8253bcfa371141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bf542d8ec4a5e" /><Relationship Type="http://schemas.openxmlformats.org/officeDocument/2006/relationships/notesSlide" Target="/ppt/notesSlides/notesSlide8.xml" Id="R0bcc772fa8b14e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BACC3-92A9-4C19-A9AE-CB29B10A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69AC3-F32F-4F2E-8444-A43C5265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1BA6E-C212-4F17-9A12-2153C072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01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9AD5D-BF3F-4550-A890-8E09B838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37574-F48A-4E5D-BA65-C3636FB5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IncidentFlow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DigitalOcean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05A43-9680-4C2F-81FE-F6F26929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A short-lived cloud deployment proving Terraform, Ansible, Docker Compose, and a working incident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43CC1-1B16-44BE-8769-BF5F84E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9258300" cy="504825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D852A-828A-4D71-8E9A-94FFEEE12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b706a4aad475c"/>
          <a:srcRect xmlns:a="http://schemas.openxmlformats.org/drawingml/2006/main" l="5000" t="0" r="5000" b="3000"/>
          <a:stretch xmlns:a="http://schemas.openxmlformats.org/drawingml/2006/main"/>
        </p:blipFill>
        <p:spPr>
          <a:xfrm xmlns:a="http://schemas.openxmlformats.org/drawingml/2006/main">
            <a:off x="609600" y="4953000"/>
            <a:ext cx="90678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F5BDF-A0CF-4004-BE48-DB0A76E5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72700"/>
            <a:ext cx="906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Terraform + Ansible + Docker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7C29-E83D-4B44-8391-F9D3CAC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0"/>
            <a:ext cx="906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Cloud proof cost: about $0.06</a:t>
            </a:r>
          </a:p>
        </p:txBody>
      </p:sp>
    </p:spTree>
    <p:extLst>
      <p:ext uri="{BB962C8B-B14F-4D97-AF65-F5344CB8AC3E}">
        <p14:creationId xmlns:p14="http://schemas.microsoft.com/office/powerpoint/2010/main" val="90692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9EDE-A1B9-425C-88E7-2A6A74C1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54A7B-99F9-47E8-AAC8-F34EB0D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3C0F0-FC31-4341-95AB-C1A53BCF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88B59-41A0-426D-898C-B67F8BC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24735-CD90-4ACD-9744-D1BB4B2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Short-lived cloud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32D48-F03C-4DBD-B9A5-B1AE428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The goal was proof, not permanent hosting: create the smallest useful VM, test the workflow, capture evidence, then shut it down.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3D8D5-75E3-42E7-9885-5244617B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01  PROVISION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551E4-D5DF-455D-909D-6550263C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Terraform creates cloud resources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6A625-F3BE-45AB-80B8-F8E4EB39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911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Droplet, SSH key, firewall, and output URLs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3F9B5-C7EC-4C8F-863E-26442CF0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02  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0037D-3502-46F6-B6AA-BD210145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191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Ansible prepares the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2AC8D-BA0C-4974-A002-2927062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629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Docker, environment file, Compose stack, and image pulls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3932-A295-4858-9073-2E056149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03 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108F3-905C-4FDF-84C4-4527F97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429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Five containers start cleanly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101C9-5945-41AE-ACB9-2FA5C718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8676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API, PostgreSQL, user UI, support UI, and admin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AD3A2-107C-4EBB-880E-7461BA0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C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C5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C56B"/>
                </a:solidFill>
                <a:latin typeface="Aptos"/>
                <a:ea typeface="Aptos"/>
                <a:cs typeface="Aptos"/>
              </a:rPr>
              <a:t>04 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E5E38-16BC-46AF-B4F4-D038D6F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Readiness and workflow checks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89D4F-DB05-49D8-9F51-8864735E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105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user report -&gt; support resolve -&gt; admin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9158A-C4D9-48C7-B6E3-D5098492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05  DESTROY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59A5E-84AB-4A0B-8E2E-854F97E7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9060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Resources are removed after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21072-EBA0-4F1D-BFE5-A296309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03441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cost stays low because the proof is short-lived</a:t>
            </a:r>
          </a:p>
        </p:txBody>
      </p:sp>
    </p:spTree>
    <p:extLst>
      <p:ext uri="{BB962C8B-B14F-4D97-AF65-F5344CB8AC3E}">
        <p14:creationId xmlns:p14="http://schemas.microsoft.com/office/powerpoint/2010/main" val="1675949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9E6EE-1D60-40A8-A459-0890CDA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E0576-DA12-4157-8833-5FB26310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0C240-C172-4FC3-A3D0-B8403D8D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DF6CC-4FED-4E4A-8E32-4AF72A90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8F21-7831-4ECC-BF05-C6CDB004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Terraform created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the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F0E96-06B6-45FD-A82A-ADC23A2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The cloud state exposed the public IP, site URLs, Droplet ID, and managed resources needed for the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EDAFC-E088-4E4A-ABB0-703A7846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92583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98388-3044-4526-9541-2C6B58618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b0cc6389f4d5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4953000"/>
            <a:ext cx="90678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A25CE-79C4-4706-AAF4-7D16E170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0"/>
            <a:ext cx="906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Output confirmed: user :8084, support :8085, admin :8086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940B9-E3B4-4E5A-B3AC-032F0B8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0"/>
            <a:ext cx="906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State list showed DigitalOcean Droplet, firewall, and SSH key resources.</a:t>
            </a:r>
          </a:p>
        </p:txBody>
      </p:sp>
    </p:spTree>
    <p:extLst>
      <p:ext uri="{BB962C8B-B14F-4D97-AF65-F5344CB8AC3E}">
        <p14:creationId xmlns:p14="http://schemas.microsoft.com/office/powerpoint/2010/main" val="589803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659F4-879F-4952-A780-03184BFE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2D600-18CF-4E58-A0E3-0FF3143A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0F392-9DF0-4B66-92A9-AA5D663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DC532-1BF3-4D03-995E-93BCD081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6F55D-B32E-42FB-822C-74221126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Ansible deployed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the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06C2E-B5CF-4769-9B2D-E894505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The playbook prepared the server, wrote the application environment, pulled images, started Compose, and verified all three sites.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0766D-7C91-4BD1-ADC4-817D257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9258300" cy="504825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6A93D-600C-45D2-903F-FF22FFFC8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1513c55164319"/>
          <a:srcRect xmlns:a="http://schemas.openxmlformats.org/drawingml/2006/main" l="0" t="0" r="0" b="2000"/>
          <a:stretch xmlns:a="http://schemas.openxmlformats.org/drawingml/2006/main"/>
        </p:blipFill>
        <p:spPr>
          <a:xfrm xmlns:a="http://schemas.openxmlformats.org/drawingml/2006/main">
            <a:off x="609600" y="4953000"/>
            <a:ext cx="90678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AE07F-7F9E-4EC1-93D7-024FFD2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72700"/>
            <a:ext cx="906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Idempotence result: ok=11, changed=0, failed=0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7460-3D68-433B-9C75-4722476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0"/>
            <a:ext cx="906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That second clean run is the proof that the automation can be repeated safely.</a:t>
            </a:r>
          </a:p>
        </p:txBody>
      </p:sp>
    </p:spTree>
    <p:extLst>
      <p:ext uri="{BB962C8B-B14F-4D97-AF65-F5344CB8AC3E}">
        <p14:creationId xmlns:p14="http://schemas.microsoft.com/office/powerpoint/2010/main" val="1958592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277C8-B730-47B2-87A5-28AD4B7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94CBC-339E-4C74-8895-3A69EB2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F9379-2A63-4302-8AB1-EFDCFA8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A7A43-3EDB-477C-B674-B31FE44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D72C0-8442-4E70-81EC-82AF2165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Containers healthy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on the Droplet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D461-A04D-4E66-905A-7B05216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The running server showed every service up and healthy, with public ports mapped only for the three portals.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37CF1-5C82-40BA-9F38-AC46C83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92583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7F423-9B2B-4F59-BD9A-AC3640D71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322c0700c48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4953000"/>
            <a:ext cx="90678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8BD8A-7E13-4001-8724-116659A4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0"/>
            <a:ext cx="27813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4BF2C-E543-476F-BCA1-B44F0E3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>
            <a:defPPr algn="l">
              <a:defRPr sz="13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E6399-9E65-4C62-A567-DCAAFF0D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25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825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3001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47A5B-A4FF-4034-A82A-833134D1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203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internal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1766F-BD37-4B5D-9F30-86E8F54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9429750"/>
            <a:ext cx="27813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36F98-EB08-46AB-B611-9A5C5D17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6012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>
            <a:defPPr algn="l">
              <a:defRPr sz="135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72068-A870-44E5-8070-91F707A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925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825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8084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69877-7D78-4266-8C54-067FCB3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4203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public portal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94DF3-2FAF-4629-90D2-AB95E31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9429750"/>
            <a:ext cx="27813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5CF4E-219D-41A4-BCCB-2623757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6012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>
            <a:defPPr algn="l">
              <a:defRPr sz="1350" b="1">
                <a:solidFill>
                  <a:srgbClr val="FFC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C5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56B"/>
                </a:solidFill>
                <a:latin typeface="Aptos"/>
                <a:ea typeface="Aptos"/>
                <a:cs typeface="Aptos"/>
              </a:rPr>
              <a:t>SUPPORT + 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9DF61-AC6A-490D-B3CC-7266C8E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25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825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8085 / 8086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BC88C-2F03-4D80-9C47-188D6B1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4203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separate sites</a:t>
            </a:r>
          </a:p>
        </p:txBody>
      </p:sp>
    </p:spTree>
    <p:extLst>
      <p:ext uri="{BB962C8B-B14F-4D97-AF65-F5344CB8AC3E}">
        <p14:creationId xmlns:p14="http://schemas.microsoft.com/office/powerpoint/2010/main" val="186574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7A359-6BC9-4691-BE5B-28713219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006F1-A824-4FCE-87A3-585A4A8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CE253-2099-4573-B706-0C2D5BAB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A09A6-6B9A-4CE8-B5D3-A2CD1A7D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FC62A-FC17-4EB8-90A4-F791C90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Three portals,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one cloud 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FFA0C-7696-4BAF-B26A-BAC05D5A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runs as separate web entry points so users, support, and admins do not share the same console.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F5C1B-2F71-4458-8758-1A7E255C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4767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0D53D-250D-42F8-AB6C-11AD4AFCF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bed2b567c47a7"/>
          <a:srcRect xmlns:a="http://schemas.openxmlformats.org/drawingml/2006/main" l="18000" t="0" r="5000" b="2000"/>
          <a:stretch xmlns:a="http://schemas.openxmlformats.org/drawingml/2006/main"/>
        </p:blipFill>
        <p:spPr>
          <a:xfrm xmlns:a="http://schemas.openxmlformats.org/drawingml/2006/main">
            <a:off x="609600" y="4762500"/>
            <a:ext cx="428625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A1F0B-5C49-40B3-80B9-97321443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0"/>
            <a:ext cx="44767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AD0AD-0AA0-4311-9668-78AB76FF7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e8fe6d23e44d4"/>
          <a:srcRect xmlns:a="http://schemas.openxmlformats.org/drawingml/2006/main" l="12000" t="0" r="3000" b="3000"/>
          <a:stretch xmlns:a="http://schemas.openxmlformats.org/drawingml/2006/main"/>
        </p:blipFill>
        <p:spPr>
          <a:xfrm xmlns:a="http://schemas.openxmlformats.org/drawingml/2006/main">
            <a:off x="5391150" y="4762500"/>
            <a:ext cx="428625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FC20E-C850-490B-AED5-0A607A6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67700"/>
            <a:ext cx="9258300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EBE91-293E-4550-8831-12566361F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8404ef9024bee"/>
          <a:srcRect xmlns:a="http://schemas.openxmlformats.org/drawingml/2006/main" l="8000" t="0" r="4000" b="34000"/>
          <a:stretch xmlns:a="http://schemas.openxmlformats.org/drawingml/2006/main"/>
        </p:blipFill>
        <p:spPr>
          <a:xfrm xmlns:a="http://schemas.openxmlformats.org/drawingml/2006/main">
            <a:off x="609600" y="8362950"/>
            <a:ext cx="9067800" cy="2619375"/>
          </a:xfrm>
          <a:prstGeom xmlns:a="http://schemas.openxmlformats.org/drawingml/2006/main" prst="roundRect">
            <a:avLst>
              <a:gd name="adj" fmla="val 436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83209-5D1B-469B-BC8F-A615A09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0"/>
            <a:ext cx="906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7356"/>
          </a:bodyPr>
          <a:lstStyle xmlns:a="http://schemas.openxmlformats.org/drawingml/2006/main">
            <a:defPPr algn="l">
              <a:defRPr sz="19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User reports incidents. Support takes and resolves tickets. Admin follows the whole flow.</a:t>
            </a:r>
          </a:p>
        </p:txBody>
      </p:sp>
    </p:spTree>
    <p:extLst>
      <p:ext uri="{BB962C8B-B14F-4D97-AF65-F5344CB8AC3E}">
        <p14:creationId xmlns:p14="http://schemas.microsoft.com/office/powerpoint/2010/main" val="170634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0182B-48DC-4DF6-A47B-5B2658D4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68237-FA8D-4DF6-896E-0277551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93EE9-684C-477E-9695-F07A9750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1DE4A-DBD5-4FF1-9AE3-6292DD7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D1A5F-8868-41F2-AFCC-7B641C59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Admin dashboard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measured the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F5596-D960-413A-BD3E-603257F7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The admin view tracked active tickets, resolved work, support ownership, and split timing for Open and In progress stages.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90B80-C0DF-42F4-B1FD-FA47E29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7813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68AC0-1868-47A1-B4D4-63E2BC24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>
            <a:defPPr algn="l">
              <a:defRPr sz="13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TOTAL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E7975-98EF-4DDF-AE72-46B973D0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825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5E7C9-4051-4C39-BF11-31965835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submitted in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FEC27-79F8-4ACF-AE34-3A62C1F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62500"/>
            <a:ext cx="27813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3FC46-ED6B-41E9-8052-D9A1F07A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339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>
            <a:defPPr algn="l">
              <a:defRPr sz="1350" b="1">
                <a:solidFill>
                  <a:srgbClr val="FFC56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C5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56B"/>
                </a:solidFill>
                <a:latin typeface="Aptos"/>
                <a:ea typeface="Aptos"/>
                <a:cs typeface="Aptos"/>
              </a:rPr>
              <a:t>OPEN 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92452-30B2-4405-A75D-31F2137A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578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825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5m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1B0D6-FDF2-42E4-B352-5AD23057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53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avg open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B4E4F-113A-4661-87E8-56C95173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62500"/>
            <a:ext cx="27813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CCB68-5F16-4E97-8539-D0ADA07E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5926"/>
          </a:bodyPr>
          <a:lstStyle xmlns:a="http://schemas.openxmlformats.org/drawingml/2006/main">
            <a:defPPr algn="l">
              <a:defRPr sz="135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0F0BA-12C0-4000-80BE-30276993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578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825"/>
          </a:bodyPr>
          <a:lstStyle xmlns:a="http://schemas.openxmlformats.org/drawingml/2006/main">
            <a:def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2m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6F8EA-9868-4D59-9D5E-C4E0BAC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53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avg active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7F6C3-4812-4AB1-807A-C0ECE4F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62750"/>
            <a:ext cx="92583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B24"/>
          </a:solidFill>
          <a:ln xmlns:a="http://schemas.openxmlformats.org/drawingml/2006/main" w="9525">
            <a:solidFill>
              <a:srgbClr val="2C3745"/>
            </a:solidFill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B3C5E-35E0-4071-AC53-64D9C14C8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4eb1b97c24e88"/>
          <a:srcRect xmlns:a="http://schemas.openxmlformats.org/drawingml/2006/main" l="20000" t="28000" r="8000" b="6000"/>
          <a:stretch xmlns:a="http://schemas.openxmlformats.org/drawingml/2006/main"/>
        </p:blipFill>
        <p:spPr>
          <a:xfrm xmlns:a="http://schemas.openxmlformats.org/drawingml/2006/main">
            <a:off x="609600" y="6858000"/>
            <a:ext cx="90678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92CCF-D992-4017-A3A3-B9242EEC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0"/>
            <a:ext cx="906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025"/>
          </a:bodyPr>
          <a:lstStyle xmlns:a="http://schemas.openxmlformats.org/drawingml/2006/main">
            <a:defPPr algn="l">
              <a:defRPr sz="19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This proves the app is more than static hosting: it has roles, data, workflow, and metrics.</a:t>
            </a:r>
          </a:p>
        </p:txBody>
      </p:sp>
    </p:spTree>
    <p:extLst>
      <p:ext uri="{BB962C8B-B14F-4D97-AF65-F5344CB8AC3E}">
        <p14:creationId xmlns:p14="http://schemas.microsoft.com/office/powerpoint/2010/main" val="483283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A1384-8A07-4094-8F4E-DDF6FDCF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FF"/>
          </a:solidFill>
          <a:ln xmlns:a="http://schemas.openxmlformats.org/drawingml/2006/main" w="0">
            <a:solidFill>
              <a:srgbClr val="0069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59667-5764-4984-B486-DA9FE83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INCIDENTFLOW / DIGITALOCEAN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A1A82-219A-42B9-B553-20D9D21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8898E-9A2C-4D3F-863D-AEB487FA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72950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IncidentFlow   /   Terraform   /   Ansible   /   DigitalOcean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D16F1-68FF-40D5-8FBD-4246262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06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Proof first,</a:t>
            </a:r>
          </a:p>
          <a:p xmlns:a="http://schemas.openxmlformats.org/drawingml/2006/main">
            <a:pPr algn="l">
              <a:defRPr sz="480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then AWS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3A9A4-70EE-481E-B0AC-91D7153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DigitalOcean was the cheapest practical checkpoint: prove the deployment discipline, then repeat it on AWS with the same cost-control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3C7F-5DA7-47B6-9BF1-9C5E3B55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08F44-C90F-455F-AD95-9F4D21FC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Terraform infrastructure created and recorded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F254C-523B-4796-813D-32A620AA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911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public IP, site URLs, Droplet ID, state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32C9-03B8-4DA5-A735-2EB17C5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CEFF2-601A-4151-841C-BB0CB62C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191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Ansible deployment repeated cleanly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3C129-C58C-4B42-83FC-7C55D90C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629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second run: ok=11, changed=0, failed=0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CA5F0-6EAF-4914-9DF6-65AA17B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E0A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E0A3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9C2F1-E2BA-4507-9BBC-14F4D78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429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Application workflow tested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8835D-24BE-4018-B907-F4A256B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8676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user report -&gt; support resolution -&gt; admin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21B0D-2D34-4686-AFFD-18D9206E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5BA8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A8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7ED24-567C-49F1-B89F-4C6E9A2A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677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AWS proof with small resources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7F7BF-33D7-4665-9C04-64ABA412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105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8B5B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8B5BD"/>
                </a:solidFill>
                <a:latin typeface="Aptos"/>
                <a:ea typeface="Aptos"/>
                <a:cs typeface="Aptos"/>
              </a:rPr>
              <a:t>run, screenshot, document, destroy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BE32E-53DB-4E70-BE3C-B29E231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25125"/>
            <a:ext cx="906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6493"/>
          </a:bodyPr>
          <a:lstStyle xmlns:a="http://schemas.openxmlformats.org/drawingml/2006/main">
            <a:defPPr algn="l">
              <a:defRPr sz="25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5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7F8"/>
                </a:solidFill>
                <a:latin typeface="Aptos"/>
                <a:ea typeface="Aptos"/>
                <a:cs typeface="Aptos"/>
              </a:rPr>
              <a:t>Rule: small first, prove the skill, capture evidence, destroy resources.</a:t>
            </a:r>
          </a:p>
        </p:txBody>
      </p:sp>
    </p:spTree>
    <p:extLst>
      <p:ext uri="{BB962C8B-B14F-4D97-AF65-F5344CB8AC3E}">
        <p14:creationId xmlns:p14="http://schemas.microsoft.com/office/powerpoint/2010/main" val="1013504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2026-10-04T15:00:40.9890000Z</dcterms:created>
  <dcterms:modified xsi:type="dcterms:W3CDTF">2026-10-04T15:00:40.9890000Z</dcterms:modified>
</coreProperties>
</file>